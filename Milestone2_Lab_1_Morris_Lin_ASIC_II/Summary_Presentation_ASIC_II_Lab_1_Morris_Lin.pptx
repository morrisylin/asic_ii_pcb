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7" r:id="rId2"/>
    <p:sldId id="270" r:id="rId3"/>
    <p:sldId id="271" r:id="rId4"/>
    <p:sldId id="272" r:id="rId5"/>
    <p:sldId id="273" r:id="rId6"/>
    <p:sldId id="274" r:id="rId7"/>
    <p:sldId id="275" r:id="rId8"/>
    <p:sldId id="276" r:id="rId9"/>
    <p:sldId id="278" r:id="rId10"/>
    <p:sldId id="269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4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/>
    <p:restoredTop sz="94694"/>
  </p:normalViewPr>
  <p:slideViewPr>
    <p:cSldViewPr snapToGrid="0">
      <p:cViewPr varScale="1">
        <p:scale>
          <a:sx n="115" d="100"/>
          <a:sy n="115" d="100"/>
        </p:scale>
        <p:origin x="254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03E80-1CEF-A840-8BE1-E91131C8C211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9B2660-4D8F-F740-A92B-5882A03452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035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E1F4660-9296-0D43-9DD2-12FCF9E29436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457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EF2FBDA-F98B-74A0-82FF-98D9C5E292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28A82A-AD1C-464D-9AAD-03449775A7B0}" type="datetime1">
              <a:rPr lang="en-US" smtClean="0"/>
              <a:t>10/1/2026</a:t>
            </a:fld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3102530-3762-F701-45E0-CFC13BC34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849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09E7D2-F4B6-AF46-A230-60BD59CA8F9D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211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ADF645E-4C16-E048-8C2C-EC4184677395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766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324438C-FA74-F14D-84EE-5206AFF9E72B}" type="datetime1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002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A13D0A2-D3FC-3545-9AA2-56FAE505BFE3}" type="datetime1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96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AB9A570-A5C6-1D44-A83B-69ABA24072AE}" type="datetime1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917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1C112F-4013-A544-9A0D-96B09F741A40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5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9BE539-372C-9342-BC6A-AF4339E6CA38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911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771EC5-FE5D-C541-9F17-150D3F6773B7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55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319928-8A7D-9B4D-9EDF-AF5B5557C0C4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9B4AC8-0A64-1E4B-A5E0-FB5D7391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089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6131" y="136525"/>
            <a:ext cx="11745884" cy="6531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131" y="972589"/>
            <a:ext cx="11745884" cy="52043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E77339-A51A-3303-1A07-295E7FE62079}"/>
              </a:ext>
            </a:extLst>
          </p:cNvPr>
          <p:cNvCxnSpPr/>
          <p:nvPr userDrawn="1"/>
        </p:nvCxnSpPr>
        <p:spPr>
          <a:xfrm>
            <a:off x="0" y="881149"/>
            <a:ext cx="12192000" cy="0"/>
          </a:xfrm>
          <a:prstGeom prst="line">
            <a:avLst/>
          </a:prstGeom>
          <a:ln w="19050">
            <a:solidFill>
              <a:srgbClr val="BF4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6674A6-A058-46B9-5F5D-43A4726B0CDA}"/>
              </a:ext>
            </a:extLst>
          </p:cNvPr>
          <p:cNvCxnSpPr/>
          <p:nvPr userDrawn="1"/>
        </p:nvCxnSpPr>
        <p:spPr>
          <a:xfrm>
            <a:off x="0" y="6270566"/>
            <a:ext cx="12192000" cy="0"/>
          </a:xfrm>
          <a:prstGeom prst="line">
            <a:avLst/>
          </a:prstGeom>
          <a:ln w="19050">
            <a:solidFill>
              <a:srgbClr val="BF4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C122CAF-CCFD-8AE6-6151-54BB3079D0A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11955" y="6323098"/>
            <a:ext cx="2136372" cy="475822"/>
          </a:xfrm>
          <a:prstGeom prst="rect">
            <a:avLst/>
          </a:prstGeom>
        </p:spPr>
      </p:pic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3BA91943-49DC-CB04-6090-2BE80B9B4A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4A8408-04CC-E245-BB7B-CE5F31D6A5A8}" type="datetime1">
              <a:rPr lang="en-US" smtClean="0"/>
              <a:t>10/1/2026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D0621A2-07CE-E165-F6D7-632BC2A8C7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fld id="{6CF7D183-C28D-4944-BF21-3D8DAB1C95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899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>
          <a:solidFill>
            <a:schemeClr val="tx1"/>
          </a:solidFill>
          <a:latin typeface="+mj-lt"/>
          <a:ea typeface="+mj-ea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4C9BC-5282-E4B1-FA1D-DE089C664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1B2053D-1EB9-EC45-88AC-B87F1A0B4EBA}"/>
              </a:ext>
            </a:extLst>
          </p:cNvPr>
          <p:cNvSpPr txBox="1"/>
          <p:nvPr/>
        </p:nvSpPr>
        <p:spPr>
          <a:xfrm>
            <a:off x="216131" y="136525"/>
            <a:ext cx="11745884" cy="6531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i="0" kern="1200" dirty="0">
                <a:latin typeface="+mj-lt"/>
                <a:ea typeface="+mj-ea"/>
                <a:cs typeface="Segoe UI" panose="020B0502040204020203" pitchFamily="34" charset="0"/>
              </a:rPr>
              <a:t>ASIC Design Lab II | </a:t>
            </a:r>
            <a:r>
              <a:rPr lang="en-US" sz="3000" b="1" i="0" kern="1200" dirty="0">
                <a:latin typeface="+mj-lt"/>
                <a:ea typeface="+mj-ea"/>
                <a:cs typeface="Segoe UI" panose="020B0502040204020203" pitchFamily="34" charset="0"/>
              </a:rPr>
              <a:t>PCB Design Summary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0222991-DF1B-742C-AE50-8FA65586A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32846"/>
            <a:ext cx="5765800" cy="4642049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1" dirty="0"/>
              <a:t>UT ASIC Lab Group 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Morris Lin</a:t>
            </a: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Vendor: JLCPCB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Price: $8.00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Dimensions : 100 mm x 100 mm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Area: 9978.517 mm</a:t>
            </a:r>
            <a:r>
              <a:rPr lang="en-US" baseline="30000" dirty="0"/>
              <a:t>2</a:t>
            </a: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Layers: 4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Power Conn.: 2-pin Banana, 2x 1-pin Banana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Data Conn.: 2x PMOD, 2x logic analyzer, QFN breakout pins </a:t>
            </a:r>
            <a:r>
              <a:rPr lang="en-US" sz="1600" i="1" dirty="0"/>
              <a:t>(for backup use)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E507CA-785E-5097-9E5D-C3A525CEE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844" r="10338"/>
          <a:stretch>
            <a:fillRect/>
          </a:stretch>
        </p:blipFill>
        <p:spPr>
          <a:xfrm>
            <a:off x="6096000" y="957833"/>
            <a:ext cx="5799096" cy="5161392"/>
          </a:xfrm>
          <a:prstGeom prst="rect">
            <a:avLst/>
          </a:prstGeom>
          <a:noFill/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5D3560-BF2F-0D24-1A09-91ED233D3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99B4AC8-0A64-1E4B-A5E0-FB5D7391F183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526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9E3DE-16DA-2061-F6A6-0D3104DC7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&amp; Design Choices | Power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A7FD5-BB5A-3D7D-0DE2-49BA07CBA3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9662" y="1062835"/>
            <a:ext cx="5826337" cy="4992103"/>
          </a:xfrm>
        </p:spPr>
        <p:txBody>
          <a:bodyPr/>
          <a:lstStyle/>
          <a:p>
            <a:r>
              <a:rPr lang="en-US" dirty="0"/>
              <a:t>Choice of power sources for all rails</a:t>
            </a:r>
          </a:p>
          <a:p>
            <a:pPr lvl="1"/>
            <a:r>
              <a:rPr lang="en-US" dirty="0"/>
              <a:t>PMOD 3v3</a:t>
            </a:r>
          </a:p>
          <a:p>
            <a:pPr lvl="1"/>
            <a:r>
              <a:rPr lang="en-US" dirty="0"/>
              <a:t>External via Banana</a:t>
            </a:r>
          </a:p>
          <a:p>
            <a:r>
              <a:rPr lang="en-US" dirty="0"/>
              <a:t>Generated 1V rails from PMOD via LDOs</a:t>
            </a:r>
          </a:p>
          <a:p>
            <a:pPr lvl="1"/>
            <a:r>
              <a:rPr lang="en-US" dirty="0"/>
              <a:t>VDDRING</a:t>
            </a:r>
          </a:p>
          <a:p>
            <a:pPr lvl="1"/>
            <a:r>
              <a:rPr lang="en-US" dirty="0" err="1"/>
              <a:t>VDD_Qn</a:t>
            </a:r>
            <a:endParaRPr lang="en-US" dirty="0"/>
          </a:p>
          <a:p>
            <a:pPr lvl="1"/>
            <a:r>
              <a:rPr lang="en-US" dirty="0"/>
              <a:t>Separate LDOs</a:t>
            </a:r>
          </a:p>
          <a:p>
            <a:r>
              <a:rPr lang="en-US" dirty="0"/>
              <a:t>Passives</a:t>
            </a:r>
          </a:p>
          <a:p>
            <a:pPr lvl="1"/>
            <a:r>
              <a:rPr lang="en-US" dirty="0"/>
              <a:t>Bulk capacitors</a:t>
            </a:r>
          </a:p>
          <a:p>
            <a:pPr lvl="1"/>
            <a:r>
              <a:rPr lang="en-US" dirty="0"/>
              <a:t>ESD Protection diode</a:t>
            </a:r>
          </a:p>
          <a:p>
            <a:pPr lvl="1"/>
            <a:r>
              <a:rPr lang="en-US" dirty="0"/>
              <a:t>PTC Resettable fuse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D1DC13-EE79-BD97-2246-935E19C12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4AC8-0A64-1E4B-A5E0-FB5D7391F183}" type="slidenum">
              <a:rPr lang="en-US" smtClean="0"/>
              <a:t>2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0C8CAB-4E62-60B2-54E7-7589A8C5EC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9006" b="49250"/>
          <a:stretch>
            <a:fillRect/>
          </a:stretch>
        </p:blipFill>
        <p:spPr>
          <a:xfrm>
            <a:off x="5435253" y="789710"/>
            <a:ext cx="4980625" cy="527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201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75FDC-C732-5155-7349-C710456B4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41A0F-9916-74CB-66AA-36A3C2E1F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&amp; Design Choices |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F8688-DD18-739A-1409-6C8F64C795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9662" y="1062836"/>
            <a:ext cx="5826337" cy="2457368"/>
          </a:xfrm>
        </p:spPr>
        <p:txBody>
          <a:bodyPr/>
          <a:lstStyle/>
          <a:p>
            <a:r>
              <a:rPr lang="en-US" dirty="0"/>
              <a:t>Bidirectional Mux/</a:t>
            </a:r>
            <a:r>
              <a:rPr lang="en-US" dirty="0" err="1"/>
              <a:t>Demux</a:t>
            </a:r>
            <a:r>
              <a:rPr lang="en-US" dirty="0"/>
              <a:t> IC</a:t>
            </a:r>
          </a:p>
          <a:p>
            <a:pPr lvl="1"/>
            <a:r>
              <a:rPr lang="en-US" dirty="0"/>
              <a:t>NMOS + PMOS pass transistor implementation</a:t>
            </a:r>
          </a:p>
          <a:p>
            <a:pPr lvl="1"/>
            <a:r>
              <a:rPr lang="en-US" dirty="0"/>
              <a:t>Nominal 5 </a:t>
            </a:r>
            <a:r>
              <a:rPr lang="el-GR" dirty="0"/>
              <a:t>Ω</a:t>
            </a:r>
            <a:r>
              <a:rPr lang="en-US" dirty="0"/>
              <a:t> resistance</a:t>
            </a:r>
          </a:p>
          <a:p>
            <a:r>
              <a:rPr lang="en-US" dirty="0"/>
              <a:t>Quadrant Selection Mechanisms</a:t>
            </a:r>
          </a:p>
          <a:p>
            <a:pPr lvl="1"/>
            <a:r>
              <a:rPr lang="en-US" dirty="0"/>
              <a:t>Select lines and output enable</a:t>
            </a:r>
          </a:p>
          <a:p>
            <a:pPr lvl="1"/>
            <a:r>
              <a:rPr lang="en-US" dirty="0"/>
              <a:t>Manually set or from FPGA</a:t>
            </a:r>
          </a:p>
          <a:p>
            <a:pPr lvl="1"/>
            <a:r>
              <a:rPr lang="en-US" dirty="0"/>
              <a:t>Chip CLK OE independent (allow external clock)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B3692D-182C-CFC8-FF79-989A11A6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4AC8-0A64-1E4B-A5E0-FB5D7391F183}" type="slidenum">
              <a:rPr lang="en-US" smtClean="0"/>
              <a:t>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421567E-12B3-4FB6-3596-3B882694B5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42" t="50352" r="68995" b="24425"/>
          <a:stretch>
            <a:fillRect/>
          </a:stretch>
        </p:blipFill>
        <p:spPr>
          <a:xfrm>
            <a:off x="394225" y="3309360"/>
            <a:ext cx="5163242" cy="28990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6A8FE6B-78C6-9946-EEBA-273D0B798F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815" t="4870" r="35624" b="51007"/>
          <a:stretch>
            <a:fillRect/>
          </a:stretch>
        </p:blipFill>
        <p:spPr>
          <a:xfrm>
            <a:off x="6457502" y="964541"/>
            <a:ext cx="4714729" cy="401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064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47893-C774-6EFD-E04B-91B872173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AA87C-D5A5-50D7-E070-C13A8EE4C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&amp; Design Choices | Other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1D2C2-F1C2-7C77-026B-192A1A027E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9662" y="1062835"/>
            <a:ext cx="5504159" cy="4992103"/>
          </a:xfrm>
        </p:spPr>
        <p:txBody>
          <a:bodyPr/>
          <a:lstStyle/>
          <a:p>
            <a:r>
              <a:rPr lang="en-US" dirty="0"/>
              <a:t>Square of Backup Headers</a:t>
            </a:r>
          </a:p>
          <a:p>
            <a:pPr lvl="1"/>
            <a:r>
              <a:rPr lang="en-US" dirty="0"/>
              <a:t>For the case of muxes failing</a:t>
            </a:r>
          </a:p>
          <a:p>
            <a:pPr lvl="1"/>
            <a:r>
              <a:rPr lang="en-US" dirty="0"/>
              <a:t>Routing breakout (layout)</a:t>
            </a:r>
          </a:p>
          <a:p>
            <a:r>
              <a:rPr lang="en-US" dirty="0"/>
              <a:t>LED Indicators</a:t>
            </a:r>
          </a:p>
          <a:p>
            <a:pPr lvl="1"/>
            <a:r>
              <a:rPr lang="en-US" dirty="0"/>
              <a:t>Improve ease of debugging</a:t>
            </a:r>
          </a:p>
          <a:p>
            <a:pPr lvl="1"/>
            <a:r>
              <a:rPr lang="en-US" dirty="0"/>
              <a:t>Quadrant selection, Mux output enable, Chip power</a:t>
            </a:r>
          </a:p>
          <a:p>
            <a:r>
              <a:rPr lang="en-US" dirty="0"/>
              <a:t>10k Pull-Down Resistors</a:t>
            </a:r>
          </a:p>
          <a:p>
            <a:pPr lvl="1"/>
            <a:r>
              <a:rPr lang="en-US" dirty="0"/>
              <a:t>On all input pins on ASIC (not shown here)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FB1FC5-B9C5-DE00-E0CD-5135BEA48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4AC8-0A64-1E4B-A5E0-FB5D7391F183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4338D-CA83-C3D0-E368-DC32A1F0A4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919" t="48919" r="35313" b="5663"/>
          <a:stretch>
            <a:fillRect/>
          </a:stretch>
        </p:blipFill>
        <p:spPr>
          <a:xfrm>
            <a:off x="5773822" y="983292"/>
            <a:ext cx="6061262" cy="52741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B5A69A9-D8CC-075F-A25F-A62312E1F6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1" t="75448" r="69096" b="5410"/>
          <a:stretch>
            <a:fillRect/>
          </a:stretch>
        </p:blipFill>
        <p:spPr>
          <a:xfrm>
            <a:off x="508313" y="3937132"/>
            <a:ext cx="5265509" cy="2354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920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5BE52-B2C1-5E02-AA5C-9B3E56936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7AF18-C452-1E15-5194-F05E068D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&amp; Design Choices | Full Schematic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A484AA-377C-C041-F606-D00679B7E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4AC8-0A64-1E4B-A5E0-FB5D7391F183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5ECC5D-FEA1-1AB3-C51D-C30210C4DD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333" t="-954" r="-1467" b="-2936"/>
          <a:stretch>
            <a:fillRect/>
          </a:stretch>
        </p:blipFill>
        <p:spPr>
          <a:xfrm>
            <a:off x="1454512" y="702864"/>
            <a:ext cx="8895762" cy="587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942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FA52D-B814-2A13-8ACB-A1FF5A6A8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7E4E7-8B69-3746-472F-EC1EAB2656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16130" y="1048620"/>
            <a:ext cx="5483471" cy="5034745"/>
          </a:xfrm>
        </p:spPr>
        <p:txBody>
          <a:bodyPr>
            <a:normAutofit/>
          </a:bodyPr>
          <a:lstStyle/>
          <a:p>
            <a:r>
              <a:rPr lang="en-US" dirty="0"/>
              <a:t>4-layer </a:t>
            </a:r>
            <a:r>
              <a:rPr lang="en-US" dirty="0" err="1"/>
              <a:t>Stackup</a:t>
            </a:r>
            <a:endParaRPr lang="en-US" dirty="0"/>
          </a:p>
          <a:p>
            <a:pPr lvl="1"/>
            <a:r>
              <a:rPr lang="en-US" dirty="0"/>
              <a:t>Red: Signal</a:t>
            </a:r>
          </a:p>
          <a:p>
            <a:pPr lvl="1"/>
            <a:r>
              <a:rPr lang="en-US" dirty="0"/>
              <a:t>Green: Power</a:t>
            </a:r>
          </a:p>
          <a:p>
            <a:pPr lvl="1"/>
            <a:r>
              <a:rPr lang="en-US" dirty="0"/>
              <a:t>Orange: Ground</a:t>
            </a:r>
          </a:p>
          <a:p>
            <a:pPr lvl="1"/>
            <a:r>
              <a:rPr lang="en-US" dirty="0"/>
              <a:t>Blue: Signal</a:t>
            </a:r>
          </a:p>
          <a:p>
            <a:r>
              <a:rPr lang="en-US" dirty="0"/>
              <a:t>Cost saving methods</a:t>
            </a:r>
          </a:p>
          <a:p>
            <a:pPr lvl="1"/>
            <a:r>
              <a:rPr lang="en-US" dirty="0"/>
              <a:t>Limit to 100 mm x 100 mm</a:t>
            </a:r>
          </a:p>
          <a:p>
            <a:pPr lvl="1"/>
            <a:r>
              <a:rPr lang="en-US" dirty="0"/>
              <a:t>No via-in-pad</a:t>
            </a:r>
          </a:p>
          <a:p>
            <a:pPr lvl="1"/>
            <a:r>
              <a:rPr lang="en-US" dirty="0"/>
              <a:t>Allows minimum JLCPCB 4-layer cost</a:t>
            </a:r>
          </a:p>
          <a:p>
            <a:r>
              <a:rPr lang="en-US" dirty="0"/>
              <a:t>SI Routing (Super Intelligence)</a:t>
            </a:r>
          </a:p>
          <a:p>
            <a:pPr lvl="1"/>
            <a:r>
              <a:rPr lang="en-US" dirty="0"/>
              <a:t>Tried open-source routers, tended to struggle</a:t>
            </a:r>
          </a:p>
          <a:p>
            <a:pPr lvl="1"/>
            <a:r>
              <a:rPr lang="en-US" dirty="0"/>
              <a:t>All routing done by hand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49CDF-3A5C-C96E-F47F-B969E6D83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4AC8-0A64-1E4B-A5E0-FB5D7391F183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E5FFD0-317E-D70E-F198-2B64BFD6E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331" y="916768"/>
            <a:ext cx="5195768" cy="5166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265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0A0E-6905-B807-4109-5E0DCB7E1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138BA-2243-6A85-1ABF-B682F067B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 | QFN-56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263BE-C92D-BD23-4366-A8722A68E2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16131" y="1048620"/>
            <a:ext cx="4379558" cy="5034745"/>
          </a:xfrm>
        </p:spPr>
        <p:txBody>
          <a:bodyPr/>
          <a:lstStyle/>
          <a:p>
            <a:r>
              <a:rPr lang="en-US" dirty="0"/>
              <a:t>Backup Header Square</a:t>
            </a:r>
          </a:p>
          <a:p>
            <a:pPr lvl="1"/>
            <a:r>
              <a:rPr lang="en-US" dirty="0"/>
              <a:t>Headers in matching order to ASIC pinout</a:t>
            </a:r>
          </a:p>
          <a:p>
            <a:pPr lvl="1"/>
            <a:r>
              <a:rPr lang="en-US" dirty="0"/>
              <a:t>For use if muxes fail</a:t>
            </a:r>
          </a:p>
          <a:p>
            <a:pPr lvl="1"/>
            <a:r>
              <a:rPr lang="en-US" dirty="0"/>
              <a:t>Also serves as breakout for dense QFN pins</a:t>
            </a:r>
          </a:p>
          <a:p>
            <a:r>
              <a:rPr lang="en-US" dirty="0"/>
              <a:t>Decoupling Capacitors</a:t>
            </a:r>
          </a:p>
          <a:p>
            <a:pPr lvl="1"/>
            <a:r>
              <a:rPr lang="en-US" dirty="0"/>
              <a:t>Kept as close as possible to ASIC</a:t>
            </a:r>
          </a:p>
          <a:p>
            <a:pPr lvl="1"/>
            <a:r>
              <a:rPr lang="en-US" dirty="0"/>
              <a:t>Some standoff for routing space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F2DDE1-D0C1-243E-17C2-C8583641C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4AC8-0A64-1E4B-A5E0-FB5D7391F183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D366FB-557D-05F5-6945-F1FCBAB64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4216" y="930617"/>
            <a:ext cx="4825287" cy="526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01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47411-4931-3DE9-748D-0C9D9D7B7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2A059-2F35-9259-00AB-7EFB2668C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 | Power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7AB59-735E-E81C-F1B0-3D85390751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16131" y="1048620"/>
            <a:ext cx="4379558" cy="5034745"/>
          </a:xfrm>
        </p:spPr>
        <p:txBody>
          <a:bodyPr/>
          <a:lstStyle/>
          <a:p>
            <a:r>
              <a:rPr lang="en-US" dirty="0"/>
              <a:t>VDDPST Fill</a:t>
            </a:r>
          </a:p>
          <a:p>
            <a:r>
              <a:rPr lang="en-US" dirty="0"/>
              <a:t>Routes for other power domains</a:t>
            </a:r>
          </a:p>
          <a:p>
            <a:r>
              <a:rPr lang="en-US" dirty="0"/>
              <a:t>Additional routing space</a:t>
            </a:r>
          </a:p>
          <a:p>
            <a:pPr lvl="1"/>
            <a:r>
              <a:rPr lang="en-US" dirty="0"/>
              <a:t>Breakout from Mux ICs use this layer</a:t>
            </a:r>
          </a:p>
          <a:p>
            <a:pPr lvl="1"/>
            <a:r>
              <a:rPr lang="en-US" dirty="0"/>
              <a:t>Some signals use for reaching pins as well</a:t>
            </a:r>
          </a:p>
          <a:p>
            <a:r>
              <a:rPr lang="en-US" dirty="0"/>
              <a:t>Speed limitations</a:t>
            </a:r>
          </a:p>
          <a:p>
            <a:pPr lvl="1"/>
            <a:r>
              <a:rPr lang="en-US" dirty="0"/>
              <a:t>High-speed boards will use signal-</a:t>
            </a:r>
            <a:r>
              <a:rPr lang="en-US" dirty="0" err="1"/>
              <a:t>gnd</a:t>
            </a:r>
            <a:r>
              <a:rPr lang="en-US" dirty="0"/>
              <a:t>-</a:t>
            </a:r>
            <a:r>
              <a:rPr lang="en-US" dirty="0" err="1"/>
              <a:t>gnd</a:t>
            </a:r>
            <a:r>
              <a:rPr lang="en-US" dirty="0"/>
              <a:t>-signal or signal-</a:t>
            </a:r>
            <a:r>
              <a:rPr lang="en-US" dirty="0" err="1"/>
              <a:t>pwr</a:t>
            </a:r>
            <a:r>
              <a:rPr lang="en-US" dirty="0"/>
              <a:t>-</a:t>
            </a:r>
            <a:r>
              <a:rPr lang="en-US" dirty="0" err="1"/>
              <a:t>gnd</a:t>
            </a:r>
            <a:r>
              <a:rPr lang="en-US" dirty="0"/>
              <a:t>-signal </a:t>
            </a:r>
            <a:r>
              <a:rPr lang="en-US" dirty="0" err="1"/>
              <a:t>stackups</a:t>
            </a:r>
            <a:r>
              <a:rPr lang="en-US" dirty="0"/>
              <a:t>, middle planes kept as uninterrupted as possible</a:t>
            </a:r>
          </a:p>
          <a:p>
            <a:pPr lvl="1"/>
            <a:r>
              <a:rPr lang="en-US" dirty="0"/>
              <a:t>This design is not high-speed, also high routing demand for 4 independent AES-128 Modules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833C45-A7D8-C160-2C2B-8FC96BE11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4AC8-0A64-1E4B-A5E0-FB5D7391F183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55455E-9B70-BDD6-DA23-F83000ABF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57" y="990136"/>
            <a:ext cx="5246993" cy="515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76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EDC2B-D868-5AEF-9B1F-18351BF35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BA22E-5919-D7EA-FA60-3BC457CB0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 |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91191-624A-AFD2-6567-50D2BECAB5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16130" y="1048621"/>
            <a:ext cx="5879869" cy="2509486"/>
          </a:xfrm>
        </p:spPr>
        <p:txBody>
          <a:bodyPr/>
          <a:lstStyle/>
          <a:p>
            <a:r>
              <a:rPr lang="en-US" dirty="0"/>
              <a:t>Horizontal/Vertical Routing method</a:t>
            </a:r>
          </a:p>
          <a:p>
            <a:pPr lvl="1"/>
            <a:r>
              <a:rPr lang="en-US" dirty="0"/>
              <a:t>Top kept mostly horizontal, bottom kept vertical</a:t>
            </a:r>
          </a:p>
          <a:p>
            <a:pPr lvl="1"/>
            <a:r>
              <a:rPr lang="en-US" dirty="0"/>
              <a:t>Allows easier positioning of traces</a:t>
            </a:r>
          </a:p>
          <a:p>
            <a:r>
              <a:rPr lang="en-US" dirty="0"/>
              <a:t>Not impedance matched</a:t>
            </a:r>
          </a:p>
          <a:p>
            <a:pPr lvl="1"/>
            <a:r>
              <a:rPr lang="en-US" dirty="0"/>
              <a:t>FPGA Board is not impedance matched, no point doing it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1D28DE-D887-B49A-14F0-C449B804F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4AC8-0A64-1E4B-A5E0-FB5D7391F183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AFA2E1-C324-CC07-F5FE-A73708D61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517" y="3646343"/>
            <a:ext cx="5402831" cy="24370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EAAF9E9-3D4E-C323-4BDD-34776892C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009" y="972608"/>
            <a:ext cx="5083737" cy="502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3241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53016B5-459C-5A99-3121-9A3FD9447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0" dirty="0"/>
              <a:t>Questions?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32E682C-3A60-A7C0-7D34-C688F60C2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/>
              <a:t>Thank you for your attention!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CF3837-880A-7B2B-3F0F-4592539D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4AC8-0A64-1E4B-A5E0-FB5D7391F18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1469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198</TotalTime>
  <Words>411</Words>
  <Application>Microsoft Office PowerPoint</Application>
  <PresentationFormat>Widescreen</PresentationFormat>
  <Paragraphs>90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Arial</vt:lpstr>
      <vt:lpstr>Office 2013 - 2022 Theme</vt:lpstr>
      <vt:lpstr>PowerPoint Presentation</vt:lpstr>
      <vt:lpstr>Schematic &amp; Design Choices | Power</vt:lpstr>
      <vt:lpstr>Schematic &amp; Design Choices | Data</vt:lpstr>
      <vt:lpstr>Schematic &amp; Design Choices | Other Features</vt:lpstr>
      <vt:lpstr>Schematic &amp; Design Choices | Full Schematic</vt:lpstr>
      <vt:lpstr>Layout Overview</vt:lpstr>
      <vt:lpstr>Layout | QFN-56 Package</vt:lpstr>
      <vt:lpstr>Layout | Power</vt:lpstr>
      <vt:lpstr>Layout | Data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Sirish Oruganti</dc:creator>
  <cp:lastModifiedBy>Morris Lin</cp:lastModifiedBy>
  <cp:revision>16</cp:revision>
  <dcterms:created xsi:type="dcterms:W3CDTF">2025-04-17T20:39:39Z</dcterms:created>
  <dcterms:modified xsi:type="dcterms:W3CDTF">2026-10-01T22:53:28Z</dcterms:modified>
</cp:coreProperties>
</file>