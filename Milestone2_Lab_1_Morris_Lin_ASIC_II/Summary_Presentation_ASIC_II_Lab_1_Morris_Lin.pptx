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9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4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4694"/>
  </p:normalViewPr>
  <p:slideViewPr>
    <p:cSldViewPr snapToGrid="0">
      <p:cViewPr varScale="1">
        <p:scale>
          <a:sx n="115" d="100"/>
          <a:sy n="115" d="100"/>
        </p:scale>
        <p:origin x="25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03E80-1CEF-A840-8BE1-E91131C8C211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B2660-4D8F-F740-A92B-5882A0345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1F4660-9296-0D43-9DD2-12FCF9E2943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EF2FBDA-F98B-74A0-82FF-98D9C5E2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28A82A-AD1C-464D-9AAD-03449775A7B0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3102530-3762-F701-45E0-CFC13BC3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4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09E7D2-F4B6-AF46-A230-60BD59CA8F9D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1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DF645E-4C16-E048-8C2C-EC4184677395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6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24438C-FA74-F14D-84EE-5206AFF9E72B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13D0A2-D3FC-3545-9AA2-56FAE505BFE3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B9A570-A5C6-1D44-A83B-69ABA24072AE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1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1C112F-4013-A544-9A0D-96B09F741A40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9BE539-372C-9342-BC6A-AF4339E6CA3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1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771EC5-FE5D-C541-9F17-150D3F6773B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5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319928-8A7D-9B4D-9EDF-AF5B5557C0C4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9B4AC8-0A64-1E4B-A5E0-FB5D7391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8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131" y="136525"/>
            <a:ext cx="11745884" cy="653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131" y="972589"/>
            <a:ext cx="11745884" cy="520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E77339-A51A-3303-1A07-295E7FE62079}"/>
              </a:ext>
            </a:extLst>
          </p:cNvPr>
          <p:cNvCxnSpPr/>
          <p:nvPr userDrawn="1"/>
        </p:nvCxnSpPr>
        <p:spPr>
          <a:xfrm>
            <a:off x="0" y="881149"/>
            <a:ext cx="12192000" cy="0"/>
          </a:xfrm>
          <a:prstGeom prst="line">
            <a:avLst/>
          </a:prstGeom>
          <a:ln w="19050">
            <a:solidFill>
              <a:srgbClr val="BF4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674A6-A058-46B9-5F5D-43A4726B0CDA}"/>
              </a:ext>
            </a:extLst>
          </p:cNvPr>
          <p:cNvCxnSpPr/>
          <p:nvPr userDrawn="1"/>
        </p:nvCxnSpPr>
        <p:spPr>
          <a:xfrm>
            <a:off x="0" y="6270566"/>
            <a:ext cx="12192000" cy="0"/>
          </a:xfrm>
          <a:prstGeom prst="line">
            <a:avLst/>
          </a:prstGeom>
          <a:ln w="19050">
            <a:solidFill>
              <a:srgbClr val="BF4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C122CAF-CCFD-8AE6-6151-54BB3079D0A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1955" y="6323098"/>
            <a:ext cx="2136372" cy="475822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BA91943-49DC-CB04-6090-2BE80B9B4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A8408-04CC-E245-BB7B-CE5F31D6A5A8}" type="datetime1">
              <a:rPr lang="en-US" smtClean="0"/>
              <a:t>10/1/2026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D0621A2-07CE-E165-F6D7-632BC2A8C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6CF7D183-C28D-4944-BF21-3D8DAB1C95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9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ouser.com/saleterms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C9BC-5282-E4B1-FA1D-DE089C66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B2053D-1EB9-EC45-88AC-B87F1A0B4EBA}"/>
              </a:ext>
            </a:extLst>
          </p:cNvPr>
          <p:cNvSpPr txBox="1"/>
          <p:nvPr/>
        </p:nvSpPr>
        <p:spPr>
          <a:xfrm>
            <a:off x="216131" y="136525"/>
            <a:ext cx="11745884" cy="653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i="0" kern="1200" dirty="0">
                <a:latin typeface="+mj-lt"/>
                <a:ea typeface="+mj-ea"/>
                <a:cs typeface="Segoe UI" panose="020B0502040204020203" pitchFamily="34" charset="0"/>
              </a:rPr>
              <a:t>ASIC Design Lab II | </a:t>
            </a:r>
            <a:r>
              <a:rPr lang="en-US" sz="3000" b="1" i="0" kern="1200" dirty="0">
                <a:latin typeface="+mj-lt"/>
                <a:ea typeface="+mj-ea"/>
                <a:cs typeface="Segoe UI" panose="020B0502040204020203" pitchFamily="34" charset="0"/>
              </a:rPr>
              <a:t>PCB Design Summary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0222991-DF1B-742C-AE50-8FA65586A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200" y="1032846"/>
            <a:ext cx="5765800" cy="464204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UT ASIC Lab Group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Morris Lin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Vendor: JLCPCB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Price: $8.00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Dimensions : 100 mm x 100 mm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Area: 9978.517 mm</a:t>
            </a:r>
            <a:r>
              <a:rPr lang="en-US" baseline="30000" dirty="0"/>
              <a:t>2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Layers: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Power Conn.: 2-pin Banana, 2x 1-pin Banana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Data Conn.: 2x PMOD, 2x logic analyzer, QFN breakout pins </a:t>
            </a:r>
            <a:r>
              <a:rPr lang="en-US" sz="1600" i="1" dirty="0"/>
              <a:t>(for backup use)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507CA-785E-5097-9E5D-C3A525CE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44" r="10338"/>
          <a:stretch>
            <a:fillRect/>
          </a:stretch>
        </p:blipFill>
        <p:spPr>
          <a:xfrm>
            <a:off x="6096000" y="957833"/>
            <a:ext cx="5799096" cy="5161392"/>
          </a:xfrm>
          <a:prstGeom prst="rect">
            <a:avLst/>
          </a:prstGeom>
          <a:noFill/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D3560-BF2F-0D24-1A09-91ED233D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99B4AC8-0A64-1E4B-A5E0-FB5D7391F183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2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E3DE-16DA-2061-F6A6-0D3104DC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&amp; Design Choices |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7FD5-BB5A-3D7D-0DE2-49BA07CBA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2" y="1062835"/>
            <a:ext cx="5826337" cy="4992103"/>
          </a:xfrm>
        </p:spPr>
        <p:txBody>
          <a:bodyPr/>
          <a:lstStyle/>
          <a:p>
            <a:r>
              <a:rPr lang="en-US" dirty="0"/>
              <a:t>Choice of power sources for all rails</a:t>
            </a:r>
          </a:p>
          <a:p>
            <a:pPr lvl="1"/>
            <a:r>
              <a:rPr lang="en-US" dirty="0"/>
              <a:t>PMOD 3v3</a:t>
            </a:r>
          </a:p>
          <a:p>
            <a:pPr lvl="1"/>
            <a:r>
              <a:rPr lang="en-US" dirty="0"/>
              <a:t>External via Banana</a:t>
            </a:r>
          </a:p>
          <a:p>
            <a:r>
              <a:rPr lang="en-US" dirty="0"/>
              <a:t>Generated 1V rails from PMOD via LDOs</a:t>
            </a:r>
          </a:p>
          <a:p>
            <a:pPr lvl="1"/>
            <a:r>
              <a:rPr lang="en-US" dirty="0"/>
              <a:t>VDDRING</a:t>
            </a:r>
          </a:p>
          <a:p>
            <a:pPr lvl="1"/>
            <a:r>
              <a:rPr lang="en-US" dirty="0" err="1"/>
              <a:t>VDD_Qn</a:t>
            </a:r>
            <a:endParaRPr lang="en-US" dirty="0"/>
          </a:p>
          <a:p>
            <a:pPr lvl="1"/>
            <a:r>
              <a:rPr lang="en-US" dirty="0"/>
              <a:t>Separate LDOs</a:t>
            </a:r>
          </a:p>
          <a:p>
            <a:r>
              <a:rPr lang="en-US" dirty="0"/>
              <a:t>Passives</a:t>
            </a:r>
          </a:p>
          <a:p>
            <a:pPr lvl="1"/>
            <a:r>
              <a:rPr lang="en-US" dirty="0"/>
              <a:t>Bulk capacitors</a:t>
            </a:r>
          </a:p>
          <a:p>
            <a:pPr lvl="1"/>
            <a:r>
              <a:rPr lang="en-US" dirty="0"/>
              <a:t>ESD Protection diode</a:t>
            </a:r>
          </a:p>
          <a:p>
            <a:pPr lvl="1"/>
            <a:r>
              <a:rPr lang="en-US" dirty="0"/>
              <a:t>PTC Resettable fuse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1DC13-EE79-BD97-2246-935E19C1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0C8CAB-4E62-60B2-54E7-7589A8C5E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006" b="49250"/>
          <a:stretch>
            <a:fillRect/>
          </a:stretch>
        </p:blipFill>
        <p:spPr>
          <a:xfrm>
            <a:off x="5435253" y="789710"/>
            <a:ext cx="4980625" cy="527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0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5FDC-C732-5155-7349-C710456B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1A0F-9916-74CB-66AA-36A3C2E1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&amp; Design Choices |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8688-DD18-739A-1409-6C8F64C79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2" y="1062836"/>
            <a:ext cx="5826337" cy="2457368"/>
          </a:xfrm>
        </p:spPr>
        <p:txBody>
          <a:bodyPr/>
          <a:lstStyle/>
          <a:p>
            <a:r>
              <a:rPr lang="en-US" dirty="0"/>
              <a:t>Bidirectional Mux/</a:t>
            </a:r>
            <a:r>
              <a:rPr lang="en-US" dirty="0" err="1"/>
              <a:t>Demux</a:t>
            </a:r>
            <a:r>
              <a:rPr lang="en-US" dirty="0"/>
              <a:t> IC</a:t>
            </a:r>
          </a:p>
          <a:p>
            <a:pPr lvl="1"/>
            <a:r>
              <a:rPr lang="en-US" dirty="0"/>
              <a:t>NMOS + PMOS pass transistor implementation</a:t>
            </a:r>
          </a:p>
          <a:p>
            <a:pPr lvl="1"/>
            <a:r>
              <a:rPr lang="en-US" dirty="0"/>
              <a:t>Nominal 5 </a:t>
            </a:r>
            <a:r>
              <a:rPr lang="el-GR" dirty="0"/>
              <a:t>Ω</a:t>
            </a:r>
            <a:r>
              <a:rPr lang="en-US" dirty="0"/>
              <a:t> resistance</a:t>
            </a:r>
          </a:p>
          <a:p>
            <a:r>
              <a:rPr lang="en-US" dirty="0"/>
              <a:t>Quadrant Selection Mechanisms</a:t>
            </a:r>
          </a:p>
          <a:p>
            <a:pPr lvl="1"/>
            <a:r>
              <a:rPr lang="en-US" dirty="0"/>
              <a:t>Select lines and output enable</a:t>
            </a:r>
          </a:p>
          <a:p>
            <a:pPr lvl="1"/>
            <a:r>
              <a:rPr lang="en-US" dirty="0"/>
              <a:t>Manually set or from FPGA</a:t>
            </a:r>
          </a:p>
          <a:p>
            <a:pPr lvl="1"/>
            <a:r>
              <a:rPr lang="en-US" dirty="0"/>
              <a:t>Chip CLK OE independent (allow external clock)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3692D-182C-CFC8-FF79-989A11A6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21567E-12B3-4FB6-3596-3B882694B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" t="50352" r="68995" b="24425"/>
          <a:stretch>
            <a:fillRect/>
          </a:stretch>
        </p:blipFill>
        <p:spPr>
          <a:xfrm>
            <a:off x="394225" y="3309360"/>
            <a:ext cx="5163242" cy="2899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A8FE6B-78C6-9946-EEBA-273D0B79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15" t="4870" r="35624" b="51007"/>
          <a:stretch>
            <a:fillRect/>
          </a:stretch>
        </p:blipFill>
        <p:spPr>
          <a:xfrm>
            <a:off x="6457502" y="964541"/>
            <a:ext cx="4714729" cy="40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6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7893-C774-6EFD-E04B-91B87217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A87C-D5A5-50D7-E070-C13A8EE4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&amp; Design Choices | Other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D2C2-F1C2-7C77-026B-192A1A02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2" y="1062835"/>
            <a:ext cx="5504159" cy="4992103"/>
          </a:xfrm>
        </p:spPr>
        <p:txBody>
          <a:bodyPr/>
          <a:lstStyle/>
          <a:p>
            <a:r>
              <a:rPr lang="en-US" dirty="0"/>
              <a:t>Square of Backup Headers</a:t>
            </a:r>
          </a:p>
          <a:p>
            <a:pPr lvl="1"/>
            <a:r>
              <a:rPr lang="en-US" dirty="0"/>
              <a:t>For the case of muxes failing</a:t>
            </a:r>
          </a:p>
          <a:p>
            <a:pPr lvl="1"/>
            <a:r>
              <a:rPr lang="en-US" dirty="0"/>
              <a:t>Routing breakout (layout)</a:t>
            </a:r>
          </a:p>
          <a:p>
            <a:r>
              <a:rPr lang="en-US" dirty="0"/>
              <a:t>LED Indicators</a:t>
            </a:r>
          </a:p>
          <a:p>
            <a:pPr lvl="1"/>
            <a:r>
              <a:rPr lang="en-US" dirty="0"/>
              <a:t>Improve ease of debugging</a:t>
            </a:r>
          </a:p>
          <a:p>
            <a:pPr lvl="1"/>
            <a:r>
              <a:rPr lang="en-US" dirty="0"/>
              <a:t>Quadrant selection, Mux output enable, Chip power</a:t>
            </a:r>
          </a:p>
          <a:p>
            <a:r>
              <a:rPr lang="en-US" dirty="0"/>
              <a:t>10k Pull-Down Resistors</a:t>
            </a:r>
          </a:p>
          <a:p>
            <a:pPr lvl="1"/>
            <a:r>
              <a:rPr lang="en-US" dirty="0"/>
              <a:t>On all input pins on ASIC (not shown here)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B1FC5-B9C5-DE00-E0CD-5135BEA4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4338D-CA83-C3D0-E368-DC32A1F0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19" t="48919" r="35313" b="5663"/>
          <a:stretch>
            <a:fillRect/>
          </a:stretch>
        </p:blipFill>
        <p:spPr>
          <a:xfrm>
            <a:off x="5773822" y="983292"/>
            <a:ext cx="6061262" cy="5274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5A69A9-D8CC-075F-A25F-A62312E1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1" t="75448" r="69096" b="5410"/>
          <a:stretch>
            <a:fillRect/>
          </a:stretch>
        </p:blipFill>
        <p:spPr>
          <a:xfrm>
            <a:off x="508313" y="3937132"/>
            <a:ext cx="5265509" cy="235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2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BE52-B2C1-5E02-AA5C-9B3E5693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AF18-C452-1E15-5194-F05E068D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&amp; Design Choices | Full Schematic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484AA-377C-C041-F606-D00679B7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ECC5D-FEA1-1AB3-C51D-C30210C4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3" t="-954" r="-1467" b="-2936"/>
          <a:stretch>
            <a:fillRect/>
          </a:stretch>
        </p:blipFill>
        <p:spPr>
          <a:xfrm>
            <a:off x="1454512" y="702864"/>
            <a:ext cx="8895762" cy="58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4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A52D-B814-2A13-8ACB-A1FF5A6A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E4E7-8B69-3746-472F-EC1EAB265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130" y="1048620"/>
            <a:ext cx="5483471" cy="5034745"/>
          </a:xfrm>
        </p:spPr>
        <p:txBody>
          <a:bodyPr>
            <a:normAutofit/>
          </a:bodyPr>
          <a:lstStyle/>
          <a:p>
            <a:r>
              <a:rPr lang="en-US" dirty="0"/>
              <a:t>4-layer </a:t>
            </a:r>
            <a:r>
              <a:rPr lang="en-US" dirty="0" err="1"/>
              <a:t>Stackup</a:t>
            </a:r>
            <a:endParaRPr lang="en-US" dirty="0"/>
          </a:p>
          <a:p>
            <a:pPr lvl="1"/>
            <a:r>
              <a:rPr lang="en-US" dirty="0"/>
              <a:t>Red: Signal</a:t>
            </a:r>
          </a:p>
          <a:p>
            <a:pPr lvl="1"/>
            <a:r>
              <a:rPr lang="en-US" dirty="0"/>
              <a:t>Green: Power</a:t>
            </a:r>
          </a:p>
          <a:p>
            <a:pPr lvl="1"/>
            <a:r>
              <a:rPr lang="en-US" dirty="0"/>
              <a:t>Orange: Ground</a:t>
            </a:r>
          </a:p>
          <a:p>
            <a:pPr lvl="1"/>
            <a:r>
              <a:rPr lang="en-US" dirty="0"/>
              <a:t>Blue: Signal</a:t>
            </a:r>
          </a:p>
          <a:p>
            <a:r>
              <a:rPr lang="en-US" dirty="0"/>
              <a:t>Cost saving methods</a:t>
            </a:r>
          </a:p>
          <a:p>
            <a:pPr lvl="1"/>
            <a:r>
              <a:rPr lang="en-US" dirty="0"/>
              <a:t>Limit to 100 mm x 100 mm</a:t>
            </a:r>
          </a:p>
          <a:p>
            <a:pPr lvl="1"/>
            <a:r>
              <a:rPr lang="en-US" dirty="0"/>
              <a:t>No via-in-pad</a:t>
            </a:r>
          </a:p>
          <a:p>
            <a:pPr lvl="1"/>
            <a:r>
              <a:rPr lang="en-US" dirty="0"/>
              <a:t>Allows minimum JLCPCB 4-layer cost</a:t>
            </a:r>
          </a:p>
          <a:p>
            <a:r>
              <a:rPr lang="en-US" dirty="0"/>
              <a:t>SI Routing (Super Intelligence)</a:t>
            </a:r>
          </a:p>
          <a:p>
            <a:pPr lvl="1"/>
            <a:r>
              <a:rPr lang="en-US" dirty="0"/>
              <a:t>Tried open-source routers, tended to struggle</a:t>
            </a:r>
          </a:p>
          <a:p>
            <a:pPr lvl="1"/>
            <a:r>
              <a:rPr lang="en-US" dirty="0"/>
              <a:t>All routing done by hand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49CDF-3A5C-C96E-F47F-B969E6D8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5FFD0-317E-D70E-F198-2B64BFD6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31" y="916768"/>
            <a:ext cx="5195768" cy="516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6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0A0E-6905-B807-4109-5E0DCB7E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38BA-2243-6A85-1ABF-B682F067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| QFN-56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263BE-C92D-BD23-4366-A8722A68E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131" y="1048620"/>
            <a:ext cx="4379558" cy="5034745"/>
          </a:xfrm>
        </p:spPr>
        <p:txBody>
          <a:bodyPr/>
          <a:lstStyle/>
          <a:p>
            <a:r>
              <a:rPr lang="en-US" dirty="0"/>
              <a:t>Backup Header Square</a:t>
            </a:r>
          </a:p>
          <a:p>
            <a:pPr lvl="1"/>
            <a:r>
              <a:rPr lang="en-US" dirty="0"/>
              <a:t>Headers in matching order to ASIC pinout</a:t>
            </a:r>
          </a:p>
          <a:p>
            <a:pPr lvl="1"/>
            <a:r>
              <a:rPr lang="en-US" dirty="0"/>
              <a:t>For use if muxes fail</a:t>
            </a:r>
          </a:p>
          <a:p>
            <a:pPr lvl="1"/>
            <a:r>
              <a:rPr lang="en-US" dirty="0"/>
              <a:t>Also serves as breakout for dense QFN pins</a:t>
            </a:r>
          </a:p>
          <a:p>
            <a:r>
              <a:rPr lang="en-US" dirty="0"/>
              <a:t>Decoupling Capacitors</a:t>
            </a:r>
          </a:p>
          <a:p>
            <a:pPr lvl="1"/>
            <a:r>
              <a:rPr lang="en-US" dirty="0"/>
              <a:t>Kept as close as possible to ASIC</a:t>
            </a:r>
          </a:p>
          <a:p>
            <a:pPr lvl="1"/>
            <a:r>
              <a:rPr lang="en-US" dirty="0"/>
              <a:t>Some standoff for routing space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2DDE1-D0C1-243E-17C2-C8583641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366FB-557D-05F5-6945-F1FCBAB6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216" y="930617"/>
            <a:ext cx="4825287" cy="526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1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7411-4931-3DE9-748D-0C9D9D7B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A059-2F35-9259-00AB-7EFB2668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|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7AB59-735E-E81C-F1B0-3D8539075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131" y="1048620"/>
            <a:ext cx="4379558" cy="5034745"/>
          </a:xfrm>
        </p:spPr>
        <p:txBody>
          <a:bodyPr/>
          <a:lstStyle/>
          <a:p>
            <a:r>
              <a:rPr lang="en-US" dirty="0"/>
              <a:t>VDDPST Fill</a:t>
            </a:r>
          </a:p>
          <a:p>
            <a:r>
              <a:rPr lang="en-US" dirty="0"/>
              <a:t>Routes for other power domains</a:t>
            </a:r>
          </a:p>
          <a:p>
            <a:r>
              <a:rPr lang="en-US" dirty="0"/>
              <a:t>Additional routing space</a:t>
            </a:r>
          </a:p>
          <a:p>
            <a:pPr lvl="1"/>
            <a:r>
              <a:rPr lang="en-US" dirty="0"/>
              <a:t>Breakout from Mux ICs use this layer</a:t>
            </a:r>
          </a:p>
          <a:p>
            <a:pPr lvl="1"/>
            <a:r>
              <a:rPr lang="en-US" dirty="0"/>
              <a:t>Some signals use for reaching pins as well</a:t>
            </a:r>
          </a:p>
          <a:p>
            <a:r>
              <a:rPr lang="en-US" dirty="0"/>
              <a:t>Speed limitations</a:t>
            </a:r>
          </a:p>
          <a:p>
            <a:pPr lvl="1"/>
            <a:r>
              <a:rPr lang="en-US" dirty="0"/>
              <a:t>High-speed boards will use signal-</a:t>
            </a:r>
            <a:r>
              <a:rPr lang="en-US" dirty="0" err="1"/>
              <a:t>gnd</a:t>
            </a:r>
            <a:r>
              <a:rPr lang="en-US" dirty="0"/>
              <a:t>-</a:t>
            </a:r>
            <a:r>
              <a:rPr lang="en-US" dirty="0" err="1"/>
              <a:t>gnd</a:t>
            </a:r>
            <a:r>
              <a:rPr lang="en-US" dirty="0"/>
              <a:t>-signal or signal-</a:t>
            </a:r>
            <a:r>
              <a:rPr lang="en-US" dirty="0" err="1"/>
              <a:t>pwr</a:t>
            </a:r>
            <a:r>
              <a:rPr lang="en-US" dirty="0"/>
              <a:t>-</a:t>
            </a:r>
            <a:r>
              <a:rPr lang="en-US" dirty="0" err="1"/>
              <a:t>gnd</a:t>
            </a:r>
            <a:r>
              <a:rPr lang="en-US" dirty="0"/>
              <a:t>-signal </a:t>
            </a:r>
            <a:r>
              <a:rPr lang="en-US" dirty="0" err="1"/>
              <a:t>stackups</a:t>
            </a:r>
            <a:r>
              <a:rPr lang="en-US" dirty="0"/>
              <a:t>, middle planes kept as uninterrupted as possible</a:t>
            </a:r>
          </a:p>
          <a:p>
            <a:pPr lvl="1"/>
            <a:r>
              <a:rPr lang="en-US" dirty="0"/>
              <a:t>This design is not high-speed, also high routing demand for 4 independent AES-128 Modules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33C45-A7D8-C160-2C2B-8FC96BE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5455E-9B70-BDD6-DA23-F83000AB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57" y="990136"/>
            <a:ext cx="5246993" cy="51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DC2B-D868-5AEF-9B1F-18351BF35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A22E-5919-D7EA-FA60-3BC457CB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|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91191-624A-AFD2-6567-50D2BECAB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130" y="1048621"/>
            <a:ext cx="5879869" cy="2509486"/>
          </a:xfrm>
        </p:spPr>
        <p:txBody>
          <a:bodyPr/>
          <a:lstStyle/>
          <a:p>
            <a:r>
              <a:rPr lang="en-US" dirty="0"/>
              <a:t>Horizontal/Vertical Routing method</a:t>
            </a:r>
          </a:p>
          <a:p>
            <a:pPr lvl="1"/>
            <a:r>
              <a:rPr lang="en-US" dirty="0"/>
              <a:t>Top kept mostly horizontal, bottom kept vertical</a:t>
            </a:r>
          </a:p>
          <a:p>
            <a:pPr lvl="1"/>
            <a:r>
              <a:rPr lang="en-US" dirty="0"/>
              <a:t>Allows easier positioning of traces</a:t>
            </a:r>
          </a:p>
          <a:p>
            <a:r>
              <a:rPr lang="en-US" dirty="0"/>
              <a:t>Not impedance matched</a:t>
            </a:r>
          </a:p>
          <a:p>
            <a:pPr lvl="1"/>
            <a:r>
              <a:rPr lang="en-US" dirty="0"/>
              <a:t>FPGA Board is not impedance matched, no point doing it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D28DE-D887-B49A-14F0-C449B804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FA2E1-C324-CC07-F5FE-A73708D6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17" y="3646343"/>
            <a:ext cx="5402831" cy="2437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AAF9E9-3D4E-C323-4BDD-34776892C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09" y="972608"/>
            <a:ext cx="5083737" cy="502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24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5884-5A87-865D-CED2-310E59A2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3C78C-E3E8-8990-0AE1-8BC2F04F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BFEB8A-B941-4351-D54B-4BFE056E6267}"/>
              </a:ext>
            </a:extLst>
          </p:cNvPr>
          <p:cNvGraphicFramePr>
            <a:graphicFrameLocks noGrp="1"/>
          </p:cNvGraphicFramePr>
          <p:nvPr/>
        </p:nvGraphicFramePr>
        <p:xfrm>
          <a:off x="215901" y="1802857"/>
          <a:ext cx="11745911" cy="3544387"/>
        </p:xfrm>
        <a:graphic>
          <a:graphicData uri="http://schemas.openxmlformats.org/drawingml/2006/table">
            <a:tbl>
              <a:tblPr/>
              <a:tblGrid>
                <a:gridCol w="259622">
                  <a:extLst>
                    <a:ext uri="{9D8B030D-6E8A-4147-A177-3AD203B41FA5}">
                      <a16:colId xmlns:a16="http://schemas.microsoft.com/office/drawing/2014/main" val="1166451410"/>
                    </a:ext>
                  </a:extLst>
                </a:gridCol>
                <a:gridCol w="912609">
                  <a:extLst>
                    <a:ext uri="{9D8B030D-6E8A-4147-A177-3AD203B41FA5}">
                      <a16:colId xmlns:a16="http://schemas.microsoft.com/office/drawing/2014/main" val="1425342230"/>
                    </a:ext>
                  </a:extLst>
                </a:gridCol>
                <a:gridCol w="755263">
                  <a:extLst>
                    <a:ext uri="{9D8B030D-6E8A-4147-A177-3AD203B41FA5}">
                      <a16:colId xmlns:a16="http://schemas.microsoft.com/office/drawing/2014/main" val="4002733085"/>
                    </a:ext>
                  </a:extLst>
                </a:gridCol>
                <a:gridCol w="1030619">
                  <a:extLst>
                    <a:ext uri="{9D8B030D-6E8A-4147-A177-3AD203B41FA5}">
                      <a16:colId xmlns:a16="http://schemas.microsoft.com/office/drawing/2014/main" val="1708660456"/>
                    </a:ext>
                  </a:extLst>
                </a:gridCol>
                <a:gridCol w="849671">
                  <a:extLst>
                    <a:ext uri="{9D8B030D-6E8A-4147-A177-3AD203B41FA5}">
                      <a16:colId xmlns:a16="http://schemas.microsoft.com/office/drawing/2014/main" val="2000593188"/>
                    </a:ext>
                  </a:extLst>
                </a:gridCol>
                <a:gridCol w="3005317">
                  <a:extLst>
                    <a:ext uri="{9D8B030D-6E8A-4147-A177-3AD203B41FA5}">
                      <a16:colId xmlns:a16="http://schemas.microsoft.com/office/drawing/2014/main" val="466844075"/>
                    </a:ext>
                  </a:extLst>
                </a:gridCol>
                <a:gridCol w="1109292">
                  <a:extLst>
                    <a:ext uri="{9D8B030D-6E8A-4147-A177-3AD203B41FA5}">
                      <a16:colId xmlns:a16="http://schemas.microsoft.com/office/drawing/2014/main" val="3896598433"/>
                    </a:ext>
                  </a:extLst>
                </a:gridCol>
                <a:gridCol w="495641">
                  <a:extLst>
                    <a:ext uri="{9D8B030D-6E8A-4147-A177-3AD203B41FA5}">
                      <a16:colId xmlns:a16="http://schemas.microsoft.com/office/drawing/2014/main" val="2172036985"/>
                    </a:ext>
                  </a:extLst>
                </a:gridCol>
                <a:gridCol w="424835">
                  <a:extLst>
                    <a:ext uri="{9D8B030D-6E8A-4147-A177-3AD203B41FA5}">
                      <a16:colId xmlns:a16="http://schemas.microsoft.com/office/drawing/2014/main" val="1087033881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1456097399"/>
                    </a:ext>
                  </a:extLst>
                </a:gridCol>
                <a:gridCol w="424835">
                  <a:extLst>
                    <a:ext uri="{9D8B030D-6E8A-4147-A177-3AD203B41FA5}">
                      <a16:colId xmlns:a16="http://schemas.microsoft.com/office/drawing/2014/main" val="2984181768"/>
                    </a:ext>
                  </a:extLst>
                </a:gridCol>
                <a:gridCol w="1038487">
                  <a:extLst>
                    <a:ext uri="{9D8B030D-6E8A-4147-A177-3AD203B41FA5}">
                      <a16:colId xmlns:a16="http://schemas.microsoft.com/office/drawing/2014/main" val="3130761861"/>
                    </a:ext>
                  </a:extLst>
                </a:gridCol>
                <a:gridCol w="991283">
                  <a:extLst>
                    <a:ext uri="{9D8B030D-6E8A-4147-A177-3AD203B41FA5}">
                      <a16:colId xmlns:a16="http://schemas.microsoft.com/office/drawing/2014/main" val="718181785"/>
                    </a:ext>
                  </a:extLst>
                </a:gridCol>
              </a:tblGrid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74840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00111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60343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93127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59460"/>
                  </a:ext>
                </a:extLst>
              </a:tr>
              <a:tr h="1148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SHOPPING CART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953564"/>
                  </a:ext>
                </a:extLst>
              </a:tr>
              <a:tr h="1148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This is not an invoice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43023"/>
                  </a:ext>
                </a:extLst>
              </a:tr>
              <a:tr h="1148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01-Oct-26 18:04:37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619318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Mouser 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Mfr. 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Manufacturer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 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Lifecycle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Order Qty.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 (USD)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Ext.: (USD)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Tariff Price (USD)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Tariff Ext. (USD)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69245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187-CL31B105KAHNFNE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CL31B105KAHNFNE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Samsung Electro-Mechanics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C1,C2,C3,C4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Multilayer Ceramic Capacitors MLCC - SMD/SMT 1uF+/-10% 25V X7R 32 1206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219820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187-CL31A106KAHNNNF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CL31A106KAHNNNF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Samsung Electro-Mechanics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C5,C13,C14,C15,C16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Multilayer Ceramic Capacitors MLCC - SMD/SMT 10uF+/-10% 25V X5R 3 1206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62691"/>
                  </a:ext>
                </a:extLst>
              </a:tr>
              <a:tr h="2076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187-CL31B104KBCNFNC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CL31B104KBCNFNC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Samsung Electro-Mechanics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C6,C7,C8,C9,C10,C11,C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Multilayer Ceramic Capacitors MLCC - SMD/SMT 100nF+/-10% 50V X7R 1206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99149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859-LTST-C230KRKT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LTST-C230KRKT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LITEON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 Color LEDs Red Clear 631nm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2790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771-PTVS3V3S1UR115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PTVS3V3S1UR,115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Nexperia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ESD Protection Diodes / TVS Diodes PTVS3V3S1UR/SOD123W/CFP3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 By Exemption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$0.58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$0.58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8237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603-SMDH1206B025TF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SMDH1206B025TF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YAGEO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Resettable Fuses - PPTC 1206,16V 0.25A 0.6W SMD AEC-Q200 High Temp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63080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771-74CBTLV3253D118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74CBTLV3253D,118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Nexperia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IC1,IC2,IC3,IC4,IC5,I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Encoders, Decoders, Multiplexers &amp; Demultiplexers 74CBTLV3253D/SOT109/SO16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168593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771-BSS138AK-QR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BSS138AK-QR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Nexperia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MOSFETs BSS138AK-Q/SOT23/TO-236AB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863050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603-RC1206FR-13470RL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RC1206FR-13470RL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YAGEO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R1,R2,R3,R4,R7,R9,R39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Thick Film Resistors - SMD General Purpose Chip Resistor 1206, 470Ohms, 1%, 1/4W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 By Exemption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824329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603-RC1206JR-0710KP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RC1206JR-0710KP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YAGEO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R5,R6,R8,R10,R11,R12,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Thick Film Resistors - SMD General Purpose Chip Resistor 1206, 10kOhms, 5%, 1/4W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82863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595-TLV75710PDBVR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TLV75710PDBVR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Texas Instruments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U1,U2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LDO Voltage Regulators 1-A low-IQ high-acc uracy low-dropout (L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RoHS Compliant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54876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5210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842420"/>
                  </a:ext>
                </a:extLst>
              </a:tr>
              <a:tr h="114863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sng" strike="noStrike">
                          <a:solidFill>
                            <a:srgbClr val="467886"/>
                          </a:solidFill>
                          <a:effectLst/>
                          <a:latin typeface="Aptos Narrow" panose="020B0004020202020204" pitchFamily="34" charset="0"/>
                          <a:hlinkClick r:id="rId2"/>
                        </a:rPr>
                        <a:t>By submitting your order you agree to these terms and conditions.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Merchandise: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$10.78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813890"/>
                  </a:ext>
                </a:extLst>
              </a:tr>
              <a:tr h="114863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Prices are reflected at the date and time shown.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Shipping Charge: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$8.49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3893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Backorder Shipping: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40954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Tariff: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$2.34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935185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878097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251773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885544"/>
                  </a:ext>
                </a:extLst>
              </a:tr>
              <a:tr h="1148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6928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8F32516-4F93-BD4B-E8FD-2511224757D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803400"/>
            <a:ext cx="21002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xmlns:mc="http://schemas.openxmlformats.org/markup-compatibility/2006" val="FFFFFF" mc:Ignorable="a14" a14:legacySpreadsheetColorIndex="6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xmlns:mc="http://schemas.openxmlformats.org/markup-compatibility/2006" val="000000" mc:Ignorable="a14" a14:legacySpreadsheetColorIndex="64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66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3016B5-459C-5A99-3121-9A3FD944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dirty="0"/>
              <a:t>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2E682C-3A60-A7C0-7D34-C688F60C2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Thank you for your attention!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F3837-880A-7B2B-3F0F-4592539D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4AC8-0A64-1E4B-A5E0-FB5D7391F1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4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210</TotalTime>
  <Words>971</Words>
  <Application>Microsoft Office PowerPoint</Application>
  <PresentationFormat>Widescreen</PresentationFormat>
  <Paragraphs>340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Narrow</vt:lpstr>
      <vt:lpstr>Arial</vt:lpstr>
      <vt:lpstr>Office 2013 - 2022 Theme</vt:lpstr>
      <vt:lpstr>PowerPoint Presentation</vt:lpstr>
      <vt:lpstr>Schematic &amp; Design Choices | Power</vt:lpstr>
      <vt:lpstr>Schematic &amp; Design Choices | Data</vt:lpstr>
      <vt:lpstr>Schematic &amp; Design Choices | Other Features</vt:lpstr>
      <vt:lpstr>Schematic &amp; Design Choices | Full Schematic</vt:lpstr>
      <vt:lpstr>Layout Overview</vt:lpstr>
      <vt:lpstr>Layout | QFN-56 Package</vt:lpstr>
      <vt:lpstr>Layout | Power</vt:lpstr>
      <vt:lpstr>Layout | Data</vt:lpstr>
      <vt:lpstr>BOM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Sirish Oruganti</dc:creator>
  <cp:lastModifiedBy>Morris Lin</cp:lastModifiedBy>
  <cp:revision>17</cp:revision>
  <dcterms:created xsi:type="dcterms:W3CDTF">2025-04-17T20:39:39Z</dcterms:created>
  <dcterms:modified xsi:type="dcterms:W3CDTF">2026-10-01T23:09:16Z</dcterms:modified>
</cp:coreProperties>
</file>